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pt-BR" smtClean="0"/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as Espaço reservado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os estilos de texto mestres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Boa </a:t>
            </a:r>
            <a:r>
              <a:rPr lang="pt-BR" altLang="en-US"/>
              <a:t>dia, turma. </a:t>
            </a:r>
            <a:r>
              <a:rPr lang="en-US" altLang="pt-BR"/>
              <a:t>Meu nome </a:t>
            </a:r>
            <a:r>
              <a:rPr lang="en-US" altLang="en-US"/>
              <a:t>é </a:t>
            </a:r>
            <a:r>
              <a:rPr lang="pt-BR" altLang="en-US"/>
              <a:t>Luiza, optei por realizar o trabalho de forma individual e vou</a:t>
            </a:r>
            <a:r>
              <a:rPr lang="en-US" altLang="pt-BR"/>
              <a:t> </a:t>
            </a:r>
            <a:r>
              <a:rPr lang="pt-BR" altLang="en-US"/>
              <a:t>agora </a:t>
            </a:r>
            <a:r>
              <a:rPr lang="en-US" altLang="pt-BR"/>
              <a:t>apresentar </a:t>
            </a:r>
            <a:r>
              <a:rPr lang="pt-BR" altLang="en-US"/>
              <a:t>a </a:t>
            </a:r>
            <a:r>
              <a:rPr lang="en-US" altLang="pt-BR"/>
              <a:t>proposta de projeto para a disciplina</a:t>
            </a:r>
            <a:r>
              <a:rPr lang="pt-BR" altLang="en-US"/>
              <a:t>.</a:t>
            </a:r>
            <a:endParaRPr lang="en-US" altLang="pt-BR"/>
          </a:p>
          <a:p>
            <a:r>
              <a:rPr lang="en-US" altLang="pt-BR"/>
              <a:t>. O tema </a:t>
            </a:r>
            <a:r>
              <a:rPr lang="en-US" altLang="en-US"/>
              <a:t>é: '</a:t>
            </a:r>
            <a:r>
              <a:rPr lang="en-US" altLang="pt-BR"/>
              <a:t>Sistema Android de borda para aprender o padr</a:t>
            </a:r>
            <a:r>
              <a:rPr lang="en-US" altLang="en-US"/>
              <a:t>ã</a:t>
            </a:r>
            <a:r>
              <a:rPr lang="en-US" altLang="pt-BR"/>
              <a:t>o de movimento de um trabalhador isolado e detectar quedas seguidas de imobilidade, com confirma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local e coopera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entre aparelhos'</a:t>
            </a:r>
            <a:endParaRPr lang="en-US" altLang="pt-BR"/>
          </a:p>
          <a:p>
            <a:r>
              <a:rPr lang="en-US" altLang="pt-BR"/>
              <a:t>. Nosso foco </a:t>
            </a:r>
            <a:r>
              <a:rPr lang="en-US" altLang="en-US"/>
              <a:t>é </a:t>
            </a:r>
            <a:r>
              <a:rPr lang="en-US" altLang="pt-BR"/>
              <a:t>a soberania de opera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na borda: processar, aprender e decidir localmente, respeitando a privacidade e os limites f</a:t>
            </a:r>
            <a:r>
              <a:rPr lang="en-US" altLang="en-US"/>
              <a:t>í</a:t>
            </a:r>
            <a:r>
              <a:rPr lang="en-US" altLang="pt-BR"/>
              <a:t>sicos do hardware</a:t>
            </a:r>
            <a:endParaRPr lang="en-US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O problema que busc</a:t>
            </a:r>
            <a:r>
              <a:rPr lang="pt-BR" altLang="en-US"/>
              <a:t>o</a:t>
            </a:r>
            <a:r>
              <a:rPr lang="en-US" altLang="pt-BR"/>
              <a:t> resolver </a:t>
            </a:r>
            <a:r>
              <a:rPr lang="en-US" altLang="en-US"/>
              <a:t>é </a:t>
            </a:r>
            <a:r>
              <a:rPr lang="en-US" altLang="pt-BR"/>
              <a:t>o de trabalhadores em locais isolados — como minas, galp</a:t>
            </a:r>
            <a:r>
              <a:rPr lang="en-US" altLang="en-US"/>
              <a:t>õ</a:t>
            </a:r>
            <a:r>
              <a:rPr lang="en-US" altLang="pt-BR"/>
              <a:t>es industriais ou postos de vigil</a:t>
            </a:r>
            <a:r>
              <a:rPr lang="en-US" altLang="en-US"/>
              <a:t>â</a:t>
            </a:r>
            <a:r>
              <a:rPr lang="en-US" altLang="pt-BR"/>
              <a:t>ncia noturna — que podem sofrer quedas ou desmaios sem que ningu</a:t>
            </a:r>
            <a:r>
              <a:rPr lang="en-US" altLang="en-US"/>
              <a:t>é</a:t>
            </a:r>
            <a:r>
              <a:rPr lang="en-US" altLang="pt-BR"/>
              <a:t>m perceba</a:t>
            </a:r>
            <a:endParaRPr lang="en-US" altLang="pt-BR"/>
          </a:p>
          <a:p>
            <a:r>
              <a:rPr lang="en-US" altLang="pt-BR"/>
              <a:t>. Em cen</a:t>
            </a:r>
            <a:r>
              <a:rPr lang="en-US" altLang="en-US"/>
              <a:t>á</a:t>
            </a:r>
            <a:r>
              <a:rPr lang="en-US" altLang="pt-BR"/>
              <a:t>rios de traumas graves, o tempo de socorro </a:t>
            </a:r>
            <a:r>
              <a:rPr lang="en-US" altLang="en-US"/>
              <a:t>é </a:t>
            </a:r>
            <a:r>
              <a:rPr lang="en-US" altLang="pt-BR"/>
              <a:t>a diferen</a:t>
            </a:r>
            <a:r>
              <a:rPr lang="en-US" altLang="en-US"/>
              <a:t>ç</a:t>
            </a:r>
            <a:r>
              <a:rPr lang="en-US" altLang="pt-BR"/>
              <a:t>a entre a vida e a morte</a:t>
            </a:r>
            <a:endParaRPr lang="en-US" altLang="pt-BR"/>
          </a:p>
          <a:p>
            <a:r>
              <a:rPr lang="en-US" altLang="pt-BR"/>
              <a:t>. Atualmente, as empresas dependem de rondas manuais via r</a:t>
            </a:r>
            <a:r>
              <a:rPr lang="en-US" altLang="en-US"/>
              <a:t>á</a:t>
            </a:r>
            <a:r>
              <a:rPr lang="en-US" altLang="pt-BR"/>
              <a:t>dio ou de rastreadores propriet</a:t>
            </a:r>
            <a:r>
              <a:rPr lang="en-US" altLang="en-US"/>
              <a:t>á</a:t>
            </a:r>
            <a:r>
              <a:rPr lang="en-US" altLang="pt-BR"/>
              <a:t>rios por sat</a:t>
            </a:r>
            <a:r>
              <a:rPr lang="en-US" altLang="en-US"/>
              <a:t>é</a:t>
            </a:r>
            <a:r>
              <a:rPr lang="en-US" altLang="pt-BR"/>
              <a:t>lite</a:t>
            </a:r>
            <a:endParaRPr lang="en-US" altLang="pt-BR"/>
          </a:p>
          <a:p>
            <a:r>
              <a:rPr lang="en-US" altLang="pt-BR"/>
              <a:t>. </a:t>
            </a:r>
            <a:r>
              <a:rPr lang="pt-BR" altLang="en-US"/>
              <a:t>O</a:t>
            </a:r>
            <a:r>
              <a:rPr lang="en-US" altLang="pt-BR"/>
              <a:t> sistema</a:t>
            </a:r>
            <a:r>
              <a:rPr lang="pt-BR" altLang="en-US"/>
              <a:t> proposto visa</a:t>
            </a:r>
            <a:r>
              <a:rPr lang="en-US" altLang="pt-BR"/>
              <a:t> elimina</a:t>
            </a:r>
            <a:r>
              <a:rPr lang="pt-BR" altLang="en-US"/>
              <a:t>r</a:t>
            </a:r>
            <a:r>
              <a:rPr lang="en-US" altLang="pt-BR"/>
              <a:t> essas depend</a:t>
            </a:r>
            <a:r>
              <a:rPr lang="en-US" altLang="en-US"/>
              <a:t>ê</a:t>
            </a:r>
            <a:r>
              <a:rPr lang="en-US" altLang="pt-BR"/>
              <a:t>ncias, criando uma rede local de monitoramento ativo e autônomo baseado nos sensores que o trabalhador j</a:t>
            </a:r>
            <a:r>
              <a:rPr lang="en-US" altLang="en-US"/>
              <a:t>á </a:t>
            </a:r>
            <a:r>
              <a:rPr lang="en-US" altLang="pt-BR"/>
              <a:t>carrega no bolso: o smartphone</a:t>
            </a:r>
            <a:endParaRPr lang="en-US" altLang="pt-BR"/>
          </a:p>
          <a:p>
            <a:endParaRPr lang="en-US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Para entender por que as solu</a:t>
            </a:r>
            <a:r>
              <a:rPr lang="en-US" altLang="en-US"/>
              <a:t>çõ</a:t>
            </a:r>
            <a:r>
              <a:rPr lang="en-US" altLang="pt-BR"/>
              <a:t>es atuais de mercado falham,</a:t>
            </a:r>
            <a:r>
              <a:rPr lang="pt-BR" altLang="en-US"/>
              <a:t> </a:t>
            </a:r>
            <a:r>
              <a:rPr lang="en-US" altLang="pt-BR"/>
              <a:t>identifi</a:t>
            </a:r>
            <a:r>
              <a:rPr lang="pt-BR" altLang="en-US"/>
              <a:t>quei</a:t>
            </a:r>
            <a:r>
              <a:rPr lang="en-US" altLang="pt-BR"/>
              <a:t> tr</a:t>
            </a:r>
            <a:r>
              <a:rPr lang="en-US" altLang="en-US"/>
              <a:t>ê</a:t>
            </a:r>
            <a:r>
              <a:rPr lang="en-US" altLang="pt-BR"/>
              <a:t>s grandes limita</a:t>
            </a:r>
            <a:r>
              <a:rPr lang="en-US" altLang="en-US"/>
              <a:t>çõ</a:t>
            </a:r>
            <a:r>
              <a:rPr lang="en-US" altLang="pt-BR"/>
              <a:t>es t</a:t>
            </a:r>
            <a:r>
              <a:rPr lang="en-US" altLang="en-US"/>
              <a:t>é</a:t>
            </a:r>
            <a:r>
              <a:rPr lang="en-US" altLang="pt-BR"/>
              <a:t>cnicas. </a:t>
            </a:r>
            <a:endParaRPr lang="en-US" altLang="pt-BR"/>
          </a:p>
          <a:p>
            <a:r>
              <a:rPr lang="en-US" altLang="pt-BR">
                <a:sym typeface="+mn-ea"/>
              </a:rPr>
              <a:t>. </a:t>
            </a:r>
            <a:r>
              <a:rPr lang="en-US" altLang="pt-BR"/>
              <a:t>Primeiro, a lat</a:t>
            </a:r>
            <a:r>
              <a:rPr lang="en-US" altLang="en-US"/>
              <a:t>ê</a:t>
            </a:r>
            <a:r>
              <a:rPr lang="en-US" altLang="pt-BR"/>
              <a:t>ncia: solu</a:t>
            </a:r>
            <a:r>
              <a:rPr lang="en-US" altLang="en-US"/>
              <a:t>çõ</a:t>
            </a:r>
            <a:r>
              <a:rPr lang="en-US" altLang="pt-BR"/>
              <a:t>es em nuvem sofrem com o tempo de tr</a:t>
            </a:r>
            <a:r>
              <a:rPr lang="en-US" altLang="en-US"/>
              <a:t>á</a:t>
            </a:r>
            <a:r>
              <a:rPr lang="en-US" altLang="pt-BR"/>
              <a:t>fego de rede, o que </a:t>
            </a:r>
            <a:r>
              <a:rPr lang="en-US" altLang="en-US"/>
              <a:t>é </a:t>
            </a:r>
            <a:r>
              <a:rPr lang="en-US" altLang="pt-BR"/>
              <a:t>inaceit</a:t>
            </a:r>
            <a:r>
              <a:rPr lang="en-US" altLang="en-US"/>
              <a:t>á</a:t>
            </a:r>
            <a:r>
              <a:rPr lang="en-US" altLang="pt-BR"/>
              <a:t>vel em resgates de emerg</a:t>
            </a:r>
            <a:r>
              <a:rPr lang="en-US" altLang="en-US"/>
              <a:t>ê</a:t>
            </a:r>
            <a:r>
              <a:rPr lang="en-US" altLang="pt-BR"/>
              <a:t>ncia</a:t>
            </a:r>
            <a:endParaRPr lang="en-US" altLang="pt-BR"/>
          </a:p>
          <a:p>
            <a:r>
              <a:rPr lang="en-US" altLang="pt-BR"/>
              <a:t>. Segundo, zonas cegas: tecnologias baseadas puramente em GNSS ou nuvem falham dentro de galp</a:t>
            </a:r>
            <a:r>
              <a:rPr lang="en-US" altLang="en-US"/>
              <a:t>õ</a:t>
            </a:r>
            <a:r>
              <a:rPr lang="en-US" altLang="pt-BR"/>
              <a:t>es, subsolos e estruturas met</a:t>
            </a:r>
            <a:r>
              <a:rPr lang="en-US" altLang="en-US"/>
              <a:t>á</a:t>
            </a:r>
            <a:r>
              <a:rPr lang="en-US" altLang="pt-BR"/>
              <a:t>licas fechadas</a:t>
            </a:r>
            <a:endParaRPr lang="en-US" altLang="pt-BR"/>
          </a:p>
          <a:p>
            <a:r>
              <a:rPr lang="en-US" altLang="pt-BR"/>
              <a:t>. E terceiro, privacidade: fazer o rastreamento cont</a:t>
            </a:r>
            <a:r>
              <a:rPr lang="en-US" altLang="en-US"/>
              <a:t>í</a:t>
            </a:r>
            <a:r>
              <a:rPr lang="en-US" altLang="pt-BR"/>
              <a:t>nuo e centralizar dados de localiza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funcion</a:t>
            </a:r>
            <a:r>
              <a:rPr lang="en-US" altLang="en-US"/>
              <a:t>á</a:t>
            </a:r>
            <a:r>
              <a:rPr lang="en-US" altLang="pt-BR"/>
              <a:t>rios em servidores de terceiros fere os princ</a:t>
            </a:r>
            <a:r>
              <a:rPr lang="en-US" altLang="en-US"/>
              <a:t>í</a:t>
            </a:r>
            <a:r>
              <a:rPr lang="en-US" altLang="pt-BR"/>
              <a:t>pios de privacidade e prote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dados da LGPD</a:t>
            </a:r>
            <a:endParaRPr lang="en-US" altLang="pt-BR"/>
          </a:p>
          <a:p>
            <a:r>
              <a:rPr lang="en-US" altLang="pt-BR"/>
              <a:t>. A solu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resolve isso processando 100% na borda: o dado n</a:t>
            </a:r>
            <a:r>
              <a:rPr lang="en-US" altLang="en-US"/>
              <a:t>ã</a:t>
            </a:r>
            <a:r>
              <a:rPr lang="en-US" altLang="pt-BR"/>
              <a:t>o sai do aparelho</a:t>
            </a:r>
            <a:endParaRPr lang="en-US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Esse </a:t>
            </a:r>
            <a:r>
              <a:rPr lang="en-US" altLang="pt-BR"/>
              <a:t>modelo f</a:t>
            </a:r>
            <a:r>
              <a:rPr lang="en-US" altLang="en-US"/>
              <a:t>í</a:t>
            </a:r>
            <a:r>
              <a:rPr lang="en-US" altLang="pt-BR"/>
              <a:t>sico ciberf</a:t>
            </a:r>
            <a:r>
              <a:rPr lang="en-US" altLang="en-US"/>
              <a:t>í</a:t>
            </a:r>
            <a:r>
              <a:rPr lang="en-US" altLang="pt-BR"/>
              <a:t>sico </a:t>
            </a:r>
            <a:r>
              <a:rPr lang="pt-BR" altLang="en-US"/>
              <a:t>será </a:t>
            </a:r>
            <a:r>
              <a:rPr lang="en-US" altLang="pt-BR"/>
              <a:t>composto por dois vetores de observa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[multimodal]. </a:t>
            </a:r>
            <a:endParaRPr lang="en-US" altLang="pt-BR"/>
          </a:p>
          <a:p>
            <a:r>
              <a:rPr lang="en-US" altLang="pt-BR">
                <a:sym typeface="+mn-ea"/>
              </a:rPr>
              <a:t>. </a:t>
            </a:r>
            <a:r>
              <a:rPr lang="en-US" altLang="pt-BR"/>
              <a:t>O Vetor 1 foca no impacto e na postura. Usa</a:t>
            </a:r>
            <a:r>
              <a:rPr lang="pt-BR" altLang="en-US"/>
              <a:t>rá</a:t>
            </a:r>
            <a:r>
              <a:rPr lang="en-US" altLang="pt-BR"/>
              <a:t> o acelerômetro e o girosc</a:t>
            </a:r>
            <a:r>
              <a:rPr lang="en-US" altLang="en-US"/>
              <a:t>ó</a:t>
            </a:r>
            <a:r>
              <a:rPr lang="en-US" altLang="pt-BR"/>
              <a:t>pio do aparelho atrav</a:t>
            </a:r>
            <a:r>
              <a:rPr lang="en-US" altLang="en-US"/>
              <a:t>é</a:t>
            </a:r>
            <a:r>
              <a:rPr lang="en-US" altLang="pt-BR"/>
              <a:t>s da API SensorManager para detectar o pico inercial do impacto seguido de uma mudan</a:t>
            </a:r>
            <a:r>
              <a:rPr lang="en-US" altLang="en-US"/>
              <a:t>ç</a:t>
            </a:r>
            <a:r>
              <a:rPr lang="en-US" altLang="pt-BR"/>
              <a:t>a dr</a:t>
            </a:r>
            <a:r>
              <a:rPr lang="en-US" altLang="en-US"/>
              <a:t>á</a:t>
            </a:r>
            <a:r>
              <a:rPr lang="en-US" altLang="pt-BR"/>
              <a:t>stica de inclina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espacial nos eixos Pitch e Roll</a:t>
            </a:r>
            <a:endParaRPr lang="en-US" altLang="pt-BR"/>
          </a:p>
          <a:p>
            <a:r>
              <a:rPr lang="en-US" altLang="pt-BR"/>
              <a:t>. A incerteza aqui vem do ru</a:t>
            </a:r>
            <a:r>
              <a:rPr lang="en-US" altLang="en-US"/>
              <a:t>í</a:t>
            </a:r>
            <a:r>
              <a:rPr lang="en-US" altLang="pt-BR"/>
              <a:t>do de quantiza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do sensor MEMS e do drift do girosc</a:t>
            </a:r>
            <a:r>
              <a:rPr lang="en-US" altLang="en-US"/>
              <a:t>ó</a:t>
            </a:r>
            <a:r>
              <a:rPr lang="en-US" altLang="pt-BR"/>
              <a:t>pio</a:t>
            </a:r>
            <a:r>
              <a:rPr lang="pt-BR" altLang="en-US"/>
              <a:t>.</a:t>
            </a:r>
            <a:endParaRPr lang="pt-BR" altLang="en-US"/>
          </a:p>
          <a:p>
            <a:r>
              <a:rPr lang="en-US" altLang="pt-BR">
                <a:sym typeface="+mn-ea"/>
              </a:rPr>
              <a:t>. </a:t>
            </a:r>
            <a:r>
              <a:rPr lang="en-US" altLang="pt-BR"/>
              <a:t>O Vetor 2 foca no deslocamento e na imobilidade. Usa</a:t>
            </a:r>
            <a:r>
              <a:rPr lang="pt-BR" altLang="en-US"/>
              <a:t>ndo </a:t>
            </a:r>
            <a:r>
              <a:rPr lang="en-US" altLang="pt-BR"/>
              <a:t>o receptor GNSS via LocationServices e o rel</a:t>
            </a:r>
            <a:r>
              <a:rPr lang="en-US" altLang="en-US"/>
              <a:t>ó</a:t>
            </a:r>
            <a:r>
              <a:rPr lang="en-US" altLang="pt-BR"/>
              <a:t>gio interno do sistema para verificar a aus</a:t>
            </a:r>
            <a:r>
              <a:rPr lang="en-US" altLang="en-US"/>
              <a:t>ê</a:t>
            </a:r>
            <a:r>
              <a:rPr lang="en-US" altLang="pt-BR"/>
              <a:t>ncia completa de deslocamento por um per</a:t>
            </a:r>
            <a:r>
              <a:rPr lang="en-US" altLang="en-US"/>
              <a:t>í</a:t>
            </a:r>
            <a:r>
              <a:rPr lang="en-US" altLang="pt-BR"/>
              <a:t>odo de tempo cr</a:t>
            </a:r>
            <a:r>
              <a:rPr lang="en-US" altLang="en-US"/>
              <a:t>í</a:t>
            </a:r>
            <a:r>
              <a:rPr lang="en-US" altLang="pt-BR"/>
              <a:t>tico</a:t>
            </a:r>
            <a:endParaRPr lang="en-US" altLang="pt-BR"/>
          </a:p>
          <a:p>
            <a:r>
              <a:rPr lang="en-US" altLang="pt-BR"/>
              <a:t>. A incerteza </a:t>
            </a:r>
            <a:r>
              <a:rPr lang="en-US" altLang="en-US"/>
              <a:t>é </a:t>
            </a:r>
            <a:r>
              <a:rPr lang="en-US" altLang="pt-BR"/>
              <a:t>a acur</a:t>
            </a:r>
            <a:r>
              <a:rPr lang="en-US" altLang="en-US"/>
              <a:t>á</a:t>
            </a:r>
            <a:r>
              <a:rPr lang="en-US" altLang="pt-BR"/>
              <a:t>cia radial em metros informada dinamicamente pelo receptor do smartphone</a:t>
            </a:r>
            <a:endParaRPr lang="en-US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Entrando nas capacidades t</a:t>
            </a:r>
            <a:r>
              <a:rPr lang="en-US" altLang="en-US"/>
              <a:t>é</a:t>
            </a:r>
            <a:r>
              <a:rPr lang="en-US" altLang="pt-BR"/>
              <a:t>cnicas exigidas pelo projeto</a:t>
            </a:r>
            <a:r>
              <a:rPr lang="pt-BR" altLang="en-US"/>
              <a:t>, </a:t>
            </a:r>
            <a:r>
              <a:rPr lang="en-US" altLang="pt-BR"/>
              <a:t>na Capacidade 1, defini as estruturas imut</a:t>
            </a:r>
            <a:r>
              <a:rPr lang="en-US" altLang="en-US"/>
              <a:t>á</a:t>
            </a:r>
            <a:r>
              <a:rPr lang="en-US" altLang="pt-BR"/>
              <a:t>veis de dom</a:t>
            </a:r>
            <a:r>
              <a:rPr lang="en-US" altLang="en-US"/>
              <a:t>í</a:t>
            </a:r>
            <a:r>
              <a:rPr lang="en-US" altLang="pt-BR"/>
              <a:t>nio Fix e Event</a:t>
            </a:r>
            <a:endParaRPr lang="en-US" altLang="pt-BR"/>
          </a:p>
          <a:p>
            <a:r>
              <a:rPr lang="en-US" altLang="pt-BR"/>
              <a:t>. O teste de aceita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automatizado garantir</a:t>
            </a:r>
            <a:r>
              <a:rPr lang="en-US" altLang="en-US"/>
              <a:t>á </a:t>
            </a:r>
            <a:r>
              <a:rPr lang="en-US" altLang="pt-BR"/>
              <a:t>que construtores com valores inv</a:t>
            </a:r>
            <a:r>
              <a:rPr lang="en-US" altLang="en-US"/>
              <a:t>á</a:t>
            </a:r>
            <a:r>
              <a:rPr lang="en-US" altLang="pt-BR"/>
              <a:t>lidos — como carimbos de tempo negativos — sejam rejeitados com uma exce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customizada, mantendo o consumo de mem</a:t>
            </a:r>
            <a:r>
              <a:rPr lang="en-US" altLang="en-US"/>
              <a:t>ó</a:t>
            </a:r>
            <a:r>
              <a:rPr lang="en-US" altLang="pt-BR"/>
              <a:t>ria constante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Na Capacidade 2 (Incerteza e Reconcilia</a:t>
            </a:r>
            <a:r>
              <a:rPr lang="en-US" altLang="en-US"/>
              <a:t>çã</a:t>
            </a:r>
            <a:r>
              <a:rPr lang="en-US" altLang="pt-BR"/>
              <a:t>o), aplicare</a:t>
            </a:r>
            <a:r>
              <a:rPr lang="pt-BR" altLang="en-US"/>
              <a:t>i </a:t>
            </a:r>
            <a:r>
              <a:rPr lang="en-US" altLang="pt-BR"/>
              <a:t>M</a:t>
            </a:r>
            <a:r>
              <a:rPr lang="en-US" altLang="en-US"/>
              <a:t>í</a:t>
            </a:r>
            <a:r>
              <a:rPr lang="en-US" altLang="pt-BR"/>
              <a:t>nimos Quadrados Ponderados fundindo acelera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e orienta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postura sob a restri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f</a:t>
            </a:r>
            <a:r>
              <a:rPr lang="en-US" altLang="en-US"/>
              <a:t>í</a:t>
            </a:r>
            <a:r>
              <a:rPr lang="en-US" altLang="pt-BR"/>
              <a:t>sica de movimento</a:t>
            </a:r>
            <a:endParaRPr lang="en-US" altLang="pt-BR"/>
          </a:p>
          <a:p>
            <a:r>
              <a:rPr lang="en-US" altLang="pt-BR"/>
              <a:t>. </a:t>
            </a:r>
            <a:r>
              <a:rPr lang="pt-BR" altLang="en-US"/>
              <a:t>O objetivo é provar</a:t>
            </a:r>
            <a:r>
              <a:rPr lang="en-US" altLang="pt-BR"/>
              <a:t> no teste quantitativo que a reconcilia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reduz o res</a:t>
            </a:r>
            <a:r>
              <a:rPr lang="en-US" altLang="en-US"/>
              <a:t>í</a:t>
            </a:r>
            <a:r>
              <a:rPr lang="en-US" altLang="pt-BR"/>
              <a:t>duo cinem</a:t>
            </a:r>
            <a:r>
              <a:rPr lang="en-US" altLang="en-US"/>
              <a:t>á</a:t>
            </a:r>
            <a:r>
              <a:rPr lang="en-US" altLang="pt-BR"/>
              <a:t>tico em tr</a:t>
            </a:r>
            <a:r>
              <a:rPr lang="en-US" altLang="en-US"/>
              <a:t>ê</a:t>
            </a:r>
            <a:r>
              <a:rPr lang="en-US" altLang="pt-BR"/>
              <a:t>s janelas reais e que o algoritmo detecta e exclui erros grosseiros do acelerômetro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Na Capacidade 3, as threads concorrentes de aquisi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sensores (a 50 Hz) e a thread do agente que toma decis</a:t>
            </a:r>
            <a:r>
              <a:rPr lang="en-US" altLang="en-US"/>
              <a:t>õ</a:t>
            </a:r>
            <a:r>
              <a:rPr lang="en-US" altLang="pt-BR"/>
              <a:t>es compartilham um buffer circular protegido por exclus</a:t>
            </a:r>
            <a:r>
              <a:rPr lang="en-US" altLang="en-US"/>
              <a:t>ã</a:t>
            </a:r>
            <a:r>
              <a:rPr lang="en-US" altLang="pt-BR"/>
              <a:t>o m</a:t>
            </a:r>
            <a:r>
              <a:rPr lang="en-US" altLang="en-US"/>
              <a:t>ú</a:t>
            </a:r>
            <a:r>
              <a:rPr lang="en-US" altLang="pt-BR"/>
              <a:t>tua (ReentrantLock)</a:t>
            </a:r>
            <a:endParaRPr lang="en-US" altLang="pt-BR"/>
          </a:p>
          <a:p>
            <a:r>
              <a:rPr lang="en-US" altLang="pt-BR"/>
              <a:t>. Apresentare</a:t>
            </a:r>
            <a:r>
              <a:rPr lang="pt-BR" altLang="en-US"/>
              <a:t>i</a:t>
            </a:r>
            <a:r>
              <a:rPr lang="en-US" altLang="pt-BR"/>
              <a:t> um teste de estresse executando a corrida de threads 10 vezes consecutivas com zero falhas e c</a:t>
            </a:r>
            <a:r>
              <a:rPr lang="en-US" altLang="en-US"/>
              <a:t>ó</a:t>
            </a:r>
            <a:r>
              <a:rPr lang="en-US" altLang="pt-BR"/>
              <a:t>pias defensivas profundas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Na Capacidade 4, o monitoramento inercial rodar</a:t>
            </a:r>
            <a:r>
              <a:rPr lang="en-US" altLang="en-US"/>
              <a:t>á </a:t>
            </a:r>
            <a:r>
              <a:rPr lang="en-US" altLang="pt-BR"/>
              <a:t>em um Foreground Service do Android imune ao modo de repouso agressivo (Doze Mode)</a:t>
            </a:r>
            <a:endParaRPr lang="en-US" altLang="pt-BR"/>
          </a:p>
          <a:p>
            <a:r>
              <a:rPr lang="en-US" altLang="pt-BR"/>
              <a:t>. Demonstrare</a:t>
            </a:r>
            <a:r>
              <a:rPr lang="pt-BR" altLang="en-US"/>
              <a:t>i</a:t>
            </a:r>
            <a:r>
              <a:rPr lang="en-US" altLang="pt-BR"/>
              <a:t> no teste de aceita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o app capturando dados em plano de fundo por 30 minutos cont</a:t>
            </a:r>
            <a:r>
              <a:rPr lang="en-US" altLang="en-US"/>
              <a:t>í</a:t>
            </a:r>
            <a:r>
              <a:rPr lang="en-US" altLang="pt-BR"/>
              <a:t>nuos com a tela do aparelho bloqueada, gerando m</a:t>
            </a:r>
            <a:r>
              <a:rPr lang="en-US" altLang="en-US"/>
              <a:t>é</a:t>
            </a:r>
            <a:r>
              <a:rPr lang="en-US" altLang="pt-BR"/>
              <a:t>tricas precisas de P95 e P99 de lat</a:t>
            </a:r>
            <a:r>
              <a:rPr lang="en-US" altLang="en-US"/>
              <a:t>ê</a:t>
            </a:r>
            <a:r>
              <a:rPr lang="en-US" altLang="pt-BR"/>
              <a:t>ncia</a:t>
            </a:r>
            <a:endParaRPr lang="en-US" altLang="pt-BR"/>
          </a:p>
          <a:p>
            <a:endParaRPr lang="en-US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Passando para a Camada 2, a Capacidade 5 aborda a reprodutibilidade. </a:t>
            </a:r>
            <a:r>
              <a:rPr lang="pt-BR" altLang="en-US"/>
              <a:t>O </a:t>
            </a:r>
            <a:r>
              <a:rPr lang="en-US" altLang="pt-BR"/>
              <a:t>sistema ter</a:t>
            </a:r>
            <a:r>
              <a:rPr lang="en-US" altLang="en-US"/>
              <a:t>á </a:t>
            </a:r>
            <a:r>
              <a:rPr lang="en-US" altLang="pt-BR"/>
              <a:t>um componente FaultInjector para injetar ru</a:t>
            </a:r>
            <a:r>
              <a:rPr lang="en-US" altLang="en-US"/>
              <a:t>í</a:t>
            </a:r>
            <a:r>
              <a:rPr lang="en-US" altLang="pt-BR"/>
              <a:t>dos inerciais determin</a:t>
            </a:r>
            <a:r>
              <a:rPr lang="en-US" altLang="en-US"/>
              <a:t>í</a:t>
            </a:r>
            <a:r>
              <a:rPr lang="en-US" altLang="pt-BR"/>
              <a:t>sticos e perdas de pacotes GNSS guiados por uma semente fixa. O teste demonstrar</a:t>
            </a:r>
            <a:r>
              <a:rPr lang="en-US" altLang="en-US"/>
              <a:t>á </a:t>
            </a:r>
            <a:r>
              <a:rPr lang="en-US" altLang="pt-BR"/>
              <a:t>que, usando a mesma semente, o disparo de emerg</a:t>
            </a:r>
            <a:r>
              <a:rPr lang="en-US" altLang="en-US"/>
              <a:t>ê</a:t>
            </a:r>
            <a:r>
              <a:rPr lang="en-US" altLang="pt-BR"/>
              <a:t>ncia ocorre no mesmo milissegundo, e geraremos uma tabela de sensibilidade de falhas do detector.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Na Capacidade 6, instrumentare</a:t>
            </a:r>
            <a:r>
              <a:rPr lang="pt-BR" altLang="en-US"/>
              <a:t>i</a:t>
            </a:r>
            <a:r>
              <a:rPr lang="en-US" altLang="pt-BR"/>
              <a:t> todas as tarefas com um Profiler para medir o pior tempo de execu</a:t>
            </a:r>
            <a:r>
              <a:rPr lang="en-US" altLang="en-US"/>
              <a:t>çã</a:t>
            </a:r>
            <a:r>
              <a:rPr lang="en-US" altLang="pt-BR"/>
              <a:t>o real no aparelho sob carga. Aplicando a pol</a:t>
            </a:r>
            <a:r>
              <a:rPr lang="en-US" altLang="en-US"/>
              <a:t>í</a:t>
            </a:r>
            <a:r>
              <a:rPr lang="en-US" altLang="pt-BR"/>
              <a:t>tica cl</a:t>
            </a:r>
            <a:r>
              <a:rPr lang="en-US" altLang="en-US"/>
              <a:t>á</a:t>
            </a:r>
            <a:r>
              <a:rPr lang="en-US" altLang="pt-BR"/>
              <a:t>ssica Rate Monotonic, calculare</a:t>
            </a:r>
            <a:r>
              <a:rPr lang="pt-BR" altLang="en-US"/>
              <a:t>i</a:t>
            </a:r>
            <a:r>
              <a:rPr lang="en-US" altLang="pt-BR"/>
              <a:t> o tempo de resposta e dare</a:t>
            </a:r>
            <a:r>
              <a:rPr lang="pt-BR" altLang="en-US"/>
              <a:t>i</a:t>
            </a:r>
            <a:r>
              <a:rPr lang="en-US" altLang="pt-BR"/>
              <a:t> a garantia matem</a:t>
            </a:r>
            <a:r>
              <a:rPr lang="en-US" altLang="en-US"/>
              <a:t>á</a:t>
            </a:r>
            <a:r>
              <a:rPr lang="en-US" altLang="pt-BR"/>
              <a:t>tica de escalonabilidade anal</a:t>
            </a:r>
            <a:r>
              <a:rPr lang="en-US" altLang="en-US"/>
              <a:t>í</a:t>
            </a:r>
            <a:r>
              <a:rPr lang="en-US" altLang="pt-BR"/>
              <a:t>tica.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Na Capacidade 7, implementare</a:t>
            </a:r>
            <a:r>
              <a:rPr lang="pt-BR" altLang="en-US"/>
              <a:t>i</a:t>
            </a:r>
            <a:r>
              <a:rPr lang="en-US" altLang="pt-BR"/>
              <a:t> agrupamento incremental (como um leader clusterer) para que o app aprenda os per</a:t>
            </a:r>
            <a:r>
              <a:rPr lang="en-US" altLang="en-US"/>
              <a:t>í</a:t>
            </a:r>
            <a:r>
              <a:rPr lang="en-US" altLang="pt-BR"/>
              <a:t>odos e locais habituais de imobilidade do trabalhador (como as pausas de almo</a:t>
            </a:r>
            <a:r>
              <a:rPr lang="en-US" altLang="en-US"/>
              <a:t>ç</a:t>
            </a:r>
            <a:r>
              <a:rPr lang="en-US" altLang="pt-BR"/>
              <a:t>o) operando estritamente sob mem</a:t>
            </a:r>
            <a:r>
              <a:rPr lang="en-US" altLang="en-US"/>
              <a:t>ó</a:t>
            </a:r>
            <a:r>
              <a:rPr lang="en-US" altLang="pt-BR"/>
              <a:t>ria constante. O teste validar</a:t>
            </a:r>
            <a:r>
              <a:rPr lang="en-US" altLang="en-US"/>
              <a:t>á </a:t>
            </a:r>
            <a:r>
              <a:rPr lang="en-US" altLang="pt-BR"/>
              <a:t>a predi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desse padr</a:t>
            </a:r>
            <a:r>
              <a:rPr lang="en-US" altLang="en-US"/>
              <a:t>ã</a:t>
            </a:r>
            <a:r>
              <a:rPr lang="en-US" altLang="pt-BR"/>
              <a:t>o sobre dados retidos de ensaios anteriores.</a:t>
            </a:r>
            <a:endParaRPr lang="en-US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Na Camada 3, a Capacidade 8 gerencia as a</a:t>
            </a:r>
            <a:r>
              <a:rPr lang="en-US" altLang="en-US"/>
              <a:t>çõ</a:t>
            </a:r>
            <a:r>
              <a:rPr lang="en-US" altLang="pt-BR"/>
              <a:t>es do agente, que avalia a queda e dispara a contagem regressiva local de emerg</a:t>
            </a:r>
            <a:r>
              <a:rPr lang="en-US" altLang="en-US"/>
              <a:t>ê</a:t>
            </a:r>
            <a:r>
              <a:rPr lang="en-US" altLang="pt-BR"/>
              <a:t>ncia. </a:t>
            </a:r>
            <a:endParaRPr lang="en-US" altLang="pt-BR"/>
          </a:p>
          <a:p>
            <a:r>
              <a:rPr lang="en-US" altLang="pt-BR"/>
              <a:t>O modelo de linguagem local (LiteRT) atuar</a:t>
            </a:r>
            <a:r>
              <a:rPr lang="en-US" altLang="en-US"/>
              <a:t>á </a:t>
            </a:r>
            <a:r>
              <a:rPr lang="en-US" altLang="pt-BR"/>
              <a:t>como pe</a:t>
            </a:r>
            <a:r>
              <a:rPr lang="en-US" altLang="en-US"/>
              <a:t>ç</a:t>
            </a:r>
            <a:r>
              <a:rPr lang="en-US" altLang="pt-BR"/>
              <a:t>a de apoio opcional</a:t>
            </a:r>
            <a:endParaRPr lang="en-US" altLang="pt-BR"/>
          </a:p>
          <a:p>
            <a:r>
              <a:rPr lang="en-US" altLang="pt-BR"/>
              <a:t>. Provare</a:t>
            </a:r>
            <a:r>
              <a:rPr lang="pt-BR" altLang="en-US"/>
              <a:t>i</a:t>
            </a:r>
            <a:r>
              <a:rPr lang="en-US" altLang="pt-BR"/>
              <a:t> a degrada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graciosa removendo ou desativando fisicamente o modelo de IA em tempo de execu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o: o aplicativo continuar</a:t>
            </a:r>
            <a:r>
              <a:rPr lang="en-US" altLang="en-US"/>
              <a:t>á </a:t>
            </a:r>
            <a:r>
              <a:rPr lang="en-US" altLang="pt-BR"/>
              <a:t>detectando impactos e imobilidade perfeitamente atrav</a:t>
            </a:r>
            <a:r>
              <a:rPr lang="en-US" altLang="en-US"/>
              <a:t>é</a:t>
            </a:r>
            <a:r>
              <a:rPr lang="en-US" altLang="pt-BR"/>
              <a:t>s de um motor de regras determin</a:t>
            </a:r>
            <a:r>
              <a:rPr lang="en-US" altLang="en-US"/>
              <a:t>í</a:t>
            </a:r>
            <a:r>
              <a:rPr lang="en-US" altLang="pt-BR"/>
              <a:t>stico local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Na Capacidade 9, os dados locais em repouso no banco SQLite ser</a:t>
            </a:r>
            <a:r>
              <a:rPr lang="en-US" altLang="en-US"/>
              <a:t>ã</a:t>
            </a:r>
            <a:r>
              <a:rPr lang="en-US" altLang="pt-BR"/>
              <a:t>o cifrados por AES-GCM com chaves no Android Keystore</a:t>
            </a:r>
            <a:endParaRPr lang="en-US" altLang="pt-BR"/>
          </a:p>
          <a:p>
            <a:r>
              <a:rPr lang="en-US" altLang="pt-BR"/>
              <a:t>. Al</a:t>
            </a:r>
            <a:r>
              <a:rPr lang="en-US" altLang="en-US"/>
              <a:t>é</a:t>
            </a:r>
            <a:r>
              <a:rPr lang="en-US" altLang="pt-BR"/>
              <a:t>m disso, demonstrare</a:t>
            </a:r>
            <a:r>
              <a:rPr lang="pt-BR" altLang="en-US"/>
              <a:t>i </a:t>
            </a:r>
            <a:r>
              <a:rPr lang="en-US" altLang="pt-BR"/>
              <a:t>a frota operando sem internet: dois smartphones conectados a um ponto de acesso local ad-hoc sincronizar</a:t>
            </a:r>
            <a:r>
              <a:rPr lang="en-US" altLang="en-US"/>
              <a:t>ã</a:t>
            </a:r>
            <a:r>
              <a:rPr lang="en-US" altLang="pt-BR"/>
              <a:t>o rel</a:t>
            </a:r>
            <a:r>
              <a:rPr lang="en-US" altLang="en-US"/>
              <a:t>ó</a:t>
            </a:r>
            <a:r>
              <a:rPr lang="en-US" altLang="pt-BR"/>
              <a:t>gios (medindo a deriva) e fundir</a:t>
            </a:r>
            <a:r>
              <a:rPr lang="en-US" altLang="en-US"/>
              <a:t>ã</a:t>
            </a:r>
            <a:r>
              <a:rPr lang="en-US" altLang="pt-BR"/>
              <a:t>o leituras coincidentes de impacto em um alarme </a:t>
            </a:r>
            <a:r>
              <a:rPr lang="en-US" altLang="en-US"/>
              <a:t>ú</a:t>
            </a:r>
            <a:r>
              <a:rPr lang="en-US" altLang="pt-BR"/>
              <a:t>nico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Por fim, na Capacidade 10 (Valida</a:t>
            </a:r>
            <a:r>
              <a:rPr lang="en-US" altLang="en-US"/>
              <a:t>çã</a:t>
            </a:r>
            <a:r>
              <a:rPr lang="en-US" altLang="pt-BR"/>
              <a:t>o Cega e Lei de Amdahl), avaliare</a:t>
            </a:r>
            <a:r>
              <a:rPr lang="pt-BR" altLang="en-US"/>
              <a:t>i</a:t>
            </a:r>
            <a:r>
              <a:rPr lang="en-US" altLang="pt-BR"/>
              <a:t> o ganho real do modelo de IA contra a linha de base determin</a:t>
            </a:r>
            <a:r>
              <a:rPr lang="en-US" altLang="en-US"/>
              <a:t>í</a:t>
            </a:r>
            <a:r>
              <a:rPr lang="en-US" altLang="pt-BR"/>
              <a:t>stica usando um ensaio cego de dados retidos sob quatro m</a:t>
            </a:r>
            <a:r>
              <a:rPr lang="en-US" altLang="en-US"/>
              <a:t>é</a:t>
            </a:r>
            <a:r>
              <a:rPr lang="en-US" altLang="pt-BR"/>
              <a:t>tricas: Sensibilidade, Especificidade, F1-Score e Precis</a:t>
            </a:r>
            <a:r>
              <a:rPr lang="en-US" altLang="en-US"/>
              <a:t>ã</a:t>
            </a:r>
            <a:r>
              <a:rPr lang="en-US" altLang="pt-BR"/>
              <a:t>o</a:t>
            </a:r>
            <a:endParaRPr lang="en-US" altLang="pt-BR"/>
          </a:p>
          <a:p>
            <a:r>
              <a:rPr lang="en-US" altLang="pt-BR"/>
              <a:t>. Apresentare</a:t>
            </a:r>
            <a:r>
              <a:rPr lang="pt-BR" altLang="en-US"/>
              <a:t>i </a:t>
            </a:r>
            <a:r>
              <a:rPr lang="en-US" altLang="pt-BR"/>
              <a:t>o gr</a:t>
            </a:r>
            <a:r>
              <a:rPr lang="en-US" altLang="en-US"/>
              <a:t>á</a:t>
            </a:r>
            <a:r>
              <a:rPr lang="en-US" altLang="pt-BR"/>
              <a:t>fico experimental de speedup de infer</a:t>
            </a:r>
            <a:r>
              <a:rPr lang="en-US" altLang="en-US"/>
              <a:t>ê</a:t>
            </a:r>
            <a:r>
              <a:rPr lang="en-US" altLang="pt-BR"/>
              <a:t>ncia local baseado na Lei de Amdahl para 5 repeti</a:t>
            </a:r>
            <a:r>
              <a:rPr lang="en-US" altLang="en-US"/>
              <a:t>çõ</a:t>
            </a:r>
            <a:r>
              <a:rPr lang="en-US" altLang="pt-BR"/>
              <a:t>es e justificaremos nossa classifica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maturidade TRL</a:t>
            </a:r>
            <a:endParaRPr lang="en-US" altLang="pt-BR"/>
          </a:p>
          <a:p>
            <a:endParaRPr lang="en-US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A </a:t>
            </a:r>
            <a:r>
              <a:rPr lang="en-US" altLang="pt-BR"/>
              <a:t>metodologia de dados foi desenhada para priorizar a seguran</a:t>
            </a:r>
            <a:r>
              <a:rPr lang="en-US" altLang="en-US"/>
              <a:t>ç</a:t>
            </a:r>
            <a:r>
              <a:rPr lang="en-US" altLang="pt-BR"/>
              <a:t>a humana</a:t>
            </a:r>
            <a:endParaRPr lang="en-US" altLang="pt-BR"/>
          </a:p>
          <a:p>
            <a:r>
              <a:rPr lang="en-US" altLang="pt-BR"/>
              <a:t>. Nenhum</a:t>
            </a:r>
            <a:r>
              <a:rPr lang="pt-BR" altLang="en-US"/>
              <a:t>a pessoa s</a:t>
            </a:r>
            <a:r>
              <a:rPr lang="en-US" altLang="pt-BR"/>
              <a:t>ofrer</a:t>
            </a:r>
            <a:r>
              <a:rPr lang="en-US" altLang="en-US"/>
              <a:t>á </a:t>
            </a:r>
            <a:r>
              <a:rPr lang="en-US" altLang="pt-BR"/>
              <a:t>impactos f</a:t>
            </a:r>
            <a:r>
              <a:rPr lang="en-US" altLang="en-US"/>
              <a:t>í</a:t>
            </a:r>
            <a:r>
              <a:rPr lang="en-US" altLang="pt-BR"/>
              <a:t>sicos reais. As quedas controladas ser</a:t>
            </a:r>
            <a:r>
              <a:rPr lang="en-US" altLang="en-US"/>
              <a:t>ã</a:t>
            </a:r>
            <a:r>
              <a:rPr lang="en-US" altLang="pt-BR"/>
              <a:t>o simuladas acoplando os smartphones a mochilas com lastro de peso equivalente e liberando-as em queda livre sobre superf</a:t>
            </a:r>
            <a:r>
              <a:rPr lang="en-US" altLang="en-US"/>
              <a:t>í</a:t>
            </a:r>
            <a:r>
              <a:rPr lang="en-US" altLang="pt-BR"/>
              <a:t>cies espessas e macias de colch</a:t>
            </a:r>
            <a:r>
              <a:rPr lang="en-US" altLang="en-US"/>
              <a:t>õ</a:t>
            </a:r>
            <a:r>
              <a:rPr lang="en-US" altLang="pt-BR"/>
              <a:t>es de gin</a:t>
            </a:r>
            <a:r>
              <a:rPr lang="en-US" altLang="en-US"/>
              <a:t>á</a:t>
            </a:r>
            <a:r>
              <a:rPr lang="en-US" altLang="pt-BR"/>
              <a:t>stica industriais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Gravare</a:t>
            </a:r>
            <a:r>
              <a:rPr lang="pt-BR" altLang="en-US"/>
              <a:t>i</a:t>
            </a:r>
            <a:r>
              <a:rPr lang="en-US" altLang="pt-BR"/>
              <a:t> rotinas normais do dia a dia por pelo menos 5 dias </a:t>
            </a:r>
            <a:r>
              <a:rPr lang="en-US" altLang="en-US"/>
              <a:t>ú</a:t>
            </a:r>
            <a:r>
              <a:rPr lang="en-US" altLang="pt-BR"/>
              <a:t>teis e coletare</a:t>
            </a:r>
            <a:r>
              <a:rPr lang="pt-BR" altLang="en-US"/>
              <a:t>i</a:t>
            </a:r>
            <a:r>
              <a:rPr lang="en-US" altLang="pt-BR"/>
              <a:t> um total de 50 cen</a:t>
            </a:r>
            <a:r>
              <a:rPr lang="en-US" altLang="en-US"/>
              <a:t>á</a:t>
            </a:r>
            <a:r>
              <a:rPr lang="en-US" altLang="pt-BR"/>
              <a:t>rios f</a:t>
            </a:r>
            <a:r>
              <a:rPr lang="en-US" altLang="en-US"/>
              <a:t>í</a:t>
            </a:r>
            <a:r>
              <a:rPr lang="en-US" altLang="pt-BR"/>
              <a:t>sicos controlados</a:t>
            </a:r>
            <a:endParaRPr lang="en-US" altLang="pt-BR"/>
          </a:p>
          <a:p>
            <a:r>
              <a:rPr lang="en-US" altLang="pt-BR"/>
              <a:t>. O conjunto de dados ser</a:t>
            </a:r>
            <a:r>
              <a:rPr lang="en-US" altLang="en-US"/>
              <a:t>á </a:t>
            </a:r>
            <a:r>
              <a:rPr lang="en-US" altLang="pt-BR"/>
              <a:t>dividido em 70% (35 amostras) para parametriza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do motor e 30% (15 amostras) mantidas sob sigilo total para o teste cego</a:t>
            </a:r>
            <a:endParaRPr lang="en-US" altLang="pt-BR"/>
          </a:p>
          <a:p>
            <a:r>
              <a:rPr lang="en-US" altLang="pt-BR"/>
              <a:t>. A data limite em que congelaremos permanentemente esse conjunto de teste no reposit</a:t>
            </a:r>
            <a:r>
              <a:rPr lang="en-US" altLang="en-US"/>
              <a:t>ó</a:t>
            </a:r>
            <a:r>
              <a:rPr lang="en-US" altLang="pt-BR"/>
              <a:t>rio GitHub ser</a:t>
            </a:r>
            <a:r>
              <a:rPr lang="en-US" altLang="en-US"/>
              <a:t>á 15 </a:t>
            </a:r>
            <a:r>
              <a:rPr lang="en-US" altLang="pt-BR"/>
              <a:t>de outubro de 2026</a:t>
            </a:r>
            <a:endParaRPr lang="en-US" altLang="pt-BR"/>
          </a:p>
          <a:p>
            <a:endParaRPr lang="en-US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Como engenheir</a:t>
            </a:r>
            <a:r>
              <a:rPr lang="pt-BR" altLang="en-US"/>
              <a:t>a </a:t>
            </a:r>
            <a:r>
              <a:rPr lang="en-US" altLang="pt-BR"/>
              <a:t>de automa</a:t>
            </a:r>
            <a:r>
              <a:rPr lang="en-US" altLang="en-US"/>
              <a:t>çã</a:t>
            </a:r>
            <a:r>
              <a:rPr lang="en-US" altLang="pt-BR"/>
              <a:t>o, </a:t>
            </a:r>
            <a:r>
              <a:rPr lang="pt-BR" altLang="en-US"/>
              <a:t>eu </a:t>
            </a:r>
            <a:r>
              <a:rPr lang="en-US" altLang="pt-BR"/>
              <a:t>avali</a:t>
            </a:r>
            <a:r>
              <a:rPr lang="pt-BR" altLang="en-US"/>
              <a:t>ei</a:t>
            </a:r>
            <a:r>
              <a:rPr lang="en-US" altLang="pt-BR"/>
              <a:t> os limites do sistema e mape</a:t>
            </a:r>
            <a:r>
              <a:rPr lang="pt-BR" altLang="en-US"/>
              <a:t>ei</a:t>
            </a:r>
            <a:r>
              <a:rPr lang="en-US" altLang="pt-BR"/>
              <a:t> tr</a:t>
            </a:r>
            <a:r>
              <a:rPr lang="en-US" altLang="en-US"/>
              <a:t>ê</a:t>
            </a:r>
            <a:r>
              <a:rPr lang="en-US" altLang="pt-BR"/>
              <a:t>s amea</a:t>
            </a:r>
            <a:r>
              <a:rPr lang="en-US" altLang="en-US"/>
              <a:t>ç</a:t>
            </a:r>
            <a:r>
              <a:rPr lang="en-US" altLang="pt-BR"/>
              <a:t>as t</a:t>
            </a:r>
            <a:r>
              <a:rPr lang="en-US" altLang="en-US"/>
              <a:t>é</a:t>
            </a:r>
            <a:r>
              <a:rPr lang="en-US" altLang="pt-BR"/>
              <a:t>cnicas cr</a:t>
            </a:r>
            <a:r>
              <a:rPr lang="en-US" altLang="en-US"/>
              <a:t>í</a:t>
            </a:r>
            <a:r>
              <a:rPr lang="en-US" altLang="pt-BR"/>
              <a:t>ticas:</a:t>
            </a:r>
            <a:endParaRPr lang="en-US" altLang="pt-BR"/>
          </a:p>
          <a:p>
            <a:r>
              <a:rPr lang="en-US" altLang="pt-BR"/>
              <a:t>A Amea</a:t>
            </a:r>
            <a:r>
              <a:rPr lang="en-US" altLang="en-US"/>
              <a:t>ç</a:t>
            </a:r>
            <a:r>
              <a:rPr lang="en-US" altLang="pt-BR"/>
              <a:t>a 1 </a:t>
            </a:r>
            <a:r>
              <a:rPr lang="en-US" altLang="en-US"/>
              <a:t>é </a:t>
            </a:r>
            <a:r>
              <a:rPr lang="en-US" altLang="pt-BR"/>
              <a:t>a matan</a:t>
            </a:r>
            <a:r>
              <a:rPr lang="en-US" altLang="en-US"/>
              <a:t>ç</a:t>
            </a:r>
            <a:r>
              <a:rPr lang="en-US" altLang="pt-BR"/>
              <a:t>a da tarefa de aquisi</a:t>
            </a:r>
            <a:r>
              <a:rPr lang="en-US" altLang="en-US"/>
              <a:t>çã</a:t>
            </a:r>
            <a:r>
              <a:rPr lang="en-US" altLang="pt-BR"/>
              <a:t>o peri</a:t>
            </a:r>
            <a:r>
              <a:rPr lang="en-US" altLang="en-US"/>
              <a:t>ó</a:t>
            </a:r>
            <a:r>
              <a:rPr lang="en-US" altLang="pt-BR"/>
              <a:t>dica (Camada 1) pelo Doze Mode do Android. </a:t>
            </a:r>
            <a:r>
              <a:rPr lang="pt-BR" altLang="en-US"/>
              <a:t>A </a:t>
            </a:r>
            <a:r>
              <a:rPr lang="en-US" altLang="pt-BR"/>
              <a:t>mitiga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(Plano B) </a:t>
            </a:r>
            <a:r>
              <a:rPr lang="en-US" altLang="en-US"/>
              <a:t>é </a:t>
            </a:r>
            <a:r>
              <a:rPr lang="en-US" altLang="pt-BR"/>
              <a:t>declarar o servi</a:t>
            </a:r>
            <a:r>
              <a:rPr lang="en-US" altLang="en-US"/>
              <a:t>ç</a:t>
            </a:r>
            <a:r>
              <a:rPr lang="en-US" altLang="pt-BR"/>
              <a:t>o em plano de fundo de alta prioridade com foregroundServiceType location, instruir o usu</a:t>
            </a:r>
            <a:r>
              <a:rPr lang="en-US" altLang="en-US"/>
              <a:t>á</a:t>
            </a:r>
            <a:r>
              <a:rPr lang="en-US" altLang="pt-BR"/>
              <a:t>rio na tela de boas-vindas do app e rodar um watchdog peri</a:t>
            </a:r>
            <a:r>
              <a:rPr lang="en-US" altLang="en-US"/>
              <a:t>ó</a:t>
            </a:r>
            <a:r>
              <a:rPr lang="en-US" altLang="pt-BR"/>
              <a:t>dico atrav</a:t>
            </a:r>
            <a:r>
              <a:rPr lang="en-US" altLang="en-US"/>
              <a:t>é</a:t>
            </a:r>
            <a:r>
              <a:rPr lang="en-US" altLang="pt-BR"/>
              <a:t>s de um WorkManager Doze-safe</a:t>
            </a:r>
            <a:r>
              <a:rPr lang="pt-BR" altLang="en-US"/>
              <a:t>.</a:t>
            </a:r>
            <a:endParaRPr lang="pt-BR" altLang="en-US"/>
          </a:p>
          <a:p>
            <a:endParaRPr lang="en-US" altLang="pt-BR"/>
          </a:p>
          <a:p>
            <a:r>
              <a:rPr lang="en-US" altLang="pt-BR"/>
              <a:t>A Amea</a:t>
            </a:r>
            <a:r>
              <a:rPr lang="en-US" altLang="en-US"/>
              <a:t>ç</a:t>
            </a:r>
            <a:r>
              <a:rPr lang="en-US" altLang="pt-BR"/>
              <a:t>a 2 </a:t>
            </a:r>
            <a:r>
              <a:rPr lang="en-US" altLang="en-US"/>
              <a:t>é </a:t>
            </a:r>
            <a:r>
              <a:rPr lang="en-US" altLang="pt-BR"/>
              <a:t>a falha do aparelho de teste ao alocar ou executar tensores da IA local no LiteRT por limita</a:t>
            </a:r>
            <a:r>
              <a:rPr lang="en-US" altLang="en-US"/>
              <a:t>çã</a:t>
            </a:r>
            <a:r>
              <a:rPr lang="en-US" altLang="pt-BR"/>
              <a:t>o f</a:t>
            </a:r>
            <a:r>
              <a:rPr lang="en-US" altLang="en-US"/>
              <a:t>í</a:t>
            </a:r>
            <a:r>
              <a:rPr lang="en-US" altLang="pt-BR"/>
              <a:t>sica da CPU. </a:t>
            </a:r>
            <a:r>
              <a:rPr lang="pt-BR" altLang="en-US"/>
              <a:t>O </a:t>
            </a:r>
            <a:r>
              <a:rPr lang="en-US" altLang="pt-BR"/>
              <a:t>Plano B garante que, se isso ocorrer, o sistema continuar</a:t>
            </a:r>
            <a:r>
              <a:rPr lang="en-US" altLang="en-US"/>
              <a:t>á </a:t>
            </a:r>
            <a:r>
              <a:rPr lang="en-US" altLang="pt-BR"/>
              <a:t>rodando de forma est</a:t>
            </a:r>
            <a:r>
              <a:rPr lang="en-US" altLang="en-US"/>
              <a:t>á</a:t>
            </a:r>
            <a:r>
              <a:rPr lang="en-US" altLang="pt-BR"/>
              <a:t>vel no motor determin</a:t>
            </a:r>
            <a:r>
              <a:rPr lang="en-US" altLang="en-US"/>
              <a:t>í</a:t>
            </a:r>
            <a:r>
              <a:rPr lang="en-US" altLang="pt-BR"/>
              <a:t>stico de regra</a:t>
            </a:r>
            <a:r>
              <a:rPr lang="pt-BR" altLang="en-US"/>
              <a:t>s</a:t>
            </a:r>
            <a:r>
              <a:rPr lang="en-US" altLang="pt-BR"/>
              <a:t>.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A Amea</a:t>
            </a:r>
            <a:r>
              <a:rPr lang="en-US" altLang="en-US"/>
              <a:t>ç</a:t>
            </a:r>
            <a:r>
              <a:rPr lang="en-US" altLang="pt-BR"/>
              <a:t>a 3 </a:t>
            </a:r>
            <a:r>
              <a:rPr lang="en-US" altLang="en-US"/>
              <a:t>é </a:t>
            </a:r>
            <a:r>
              <a:rPr lang="en-US" altLang="pt-BR"/>
              <a:t>o isolamento de clientes (Client Isolation) imposto pelos roteadores de Wi-Fi institucional da UFLA, o que impediria a inter-comunica</a:t>
            </a:r>
            <a:r>
              <a:rPr lang="en-US" altLang="en-US"/>
              <a:t>çã</a:t>
            </a:r>
            <a:r>
              <a:rPr lang="en-US" altLang="pt-BR"/>
              <a:t>o direta da frota. Mitigare</a:t>
            </a:r>
            <a:r>
              <a:rPr lang="pt-BR" altLang="en-US"/>
              <a:t>i</a:t>
            </a:r>
            <a:r>
              <a:rPr lang="en-US" altLang="pt-BR"/>
              <a:t> isso eliminando roteadores externos: um smartphone funcionar</a:t>
            </a:r>
            <a:r>
              <a:rPr lang="en-US" altLang="en-US"/>
              <a:t>á </a:t>
            </a:r>
            <a:r>
              <a:rPr lang="en-US" altLang="pt-BR"/>
              <a:t>nativamente como Hotspot Wi-Fi fechado, criando </a:t>
            </a:r>
            <a:r>
              <a:rPr lang="pt-BR" altLang="en-US"/>
              <a:t>uma </a:t>
            </a:r>
            <a:r>
              <a:rPr lang="en-US" altLang="pt-BR"/>
              <a:t>pr</a:t>
            </a:r>
            <a:r>
              <a:rPr lang="en-US" altLang="en-US"/>
              <a:t>ó</a:t>
            </a:r>
            <a:r>
              <a:rPr lang="en-US" altLang="pt-BR"/>
              <a:t>pria rede ad-hoc mesh local para a fus</a:t>
            </a:r>
            <a:r>
              <a:rPr lang="en-US" altLang="en-US"/>
              <a:t>ã</a:t>
            </a:r>
            <a:r>
              <a:rPr lang="en-US" altLang="pt-BR"/>
              <a:t>o de alertas.</a:t>
            </a:r>
            <a:endParaRPr lang="en-US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Conclu</a:t>
            </a:r>
            <a:r>
              <a:rPr lang="pt-BR" altLang="en-US"/>
              <a:t>o</a:t>
            </a:r>
            <a:r>
              <a:rPr lang="en-US" altLang="pt-BR"/>
              <a:t> assim a proposta de projeto. Est</a:t>
            </a:r>
            <a:r>
              <a:rPr lang="pt-BR" altLang="en-US"/>
              <a:t>ou</a:t>
            </a:r>
            <a:r>
              <a:rPr lang="en-US" altLang="pt-BR"/>
              <a:t> abert</a:t>
            </a:r>
            <a:r>
              <a:rPr lang="pt-BR" altLang="en-US"/>
              <a:t>a</a:t>
            </a:r>
            <a:r>
              <a:rPr lang="en-US" altLang="pt-BR"/>
              <a:t> às perguntas e contribui</a:t>
            </a:r>
            <a:r>
              <a:rPr lang="en-US" altLang="en-US"/>
              <a:t>çõ</a:t>
            </a:r>
            <a:r>
              <a:rPr lang="en-US" altLang="pt-BR"/>
              <a:t>es da turma e do professor. Muito obrigad</a:t>
            </a:r>
            <a:r>
              <a:rPr lang="pt-BR" altLang="en-US"/>
              <a:t>a</a:t>
            </a:r>
            <a:r>
              <a:rPr lang="en-US" altLang="pt-BR"/>
              <a:t>.</a:t>
            </a:r>
            <a:endParaRPr lang="en-US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52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"/>
            <a:ext cx="16256000" cy="916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3975"/>
            <a:ext cx="16256000" cy="9197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28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5240"/>
            <a:ext cx="16256000" cy="91586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m 4" descr="ChatGPT Image 27 de ago. de 2026, 00_14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631188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LUIZA GOULART SILVA</cp:lastModifiedBy>
  <cp:revision>6</cp:revision>
  <dcterms:created xsi:type="dcterms:W3CDTF">2006-08-16T00:00:00Z</dcterms:created>
  <dcterms:modified xsi:type="dcterms:W3CDTF">2026-08-27T03:28:31Z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D23186F9960A420DB0D8881002083B1A_12</vt:lpwstr>
  </property>
  <property fmtid="{D5CDD505-2E9C-101B-9397-08002B2CF9AE}" pid="3" name="KSOProductBuildVer">
    <vt:lpwstr>1046-12.1.0.28032</vt:lpwstr>
  </property>
</Properties>
</file>